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Caveat"/>
      <p:regular r:id="rId11"/>
      <p:bold r:id="rId12"/>
    </p:embeddedFon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1" Type="http://schemas.openxmlformats.org/officeDocument/2006/relationships/font" Target="fonts/Caveat-regular.fntdata"/><Relationship Id="rId12" Type="http://schemas.openxmlformats.org/officeDocument/2006/relationships/font" Target="fonts/Caveat-bold.fntdata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yst AI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781600" y="6375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658368" y="914400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F53CA6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r>
              <a:rPr i="0" lang="en-US" sz="800" u="none" cap="none" strike="noStrike">
                <a:solidFill>
                  <a:srgbClr val="F53CA6"/>
                </a:solidFill>
                <a:latin typeface="Poppins"/>
                <a:ea typeface="Poppins"/>
                <a:cs typeface="Poppins"/>
                <a:sym typeface="Poppins"/>
              </a:rPr>
              <a:t>  |  CATALYST AI</a:t>
            </a:r>
            <a:endParaRPr sz="800">
              <a:solidFill>
                <a:srgbClr val="F53C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98006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alyst_ai_logo.png" id="10" name="Google Shape;10;p1"/>
          <p:cNvPicPr preferRelativeResize="0"/>
          <p:nvPr/>
        </p:nvPicPr>
        <p:blipFill rotWithShape="1">
          <a:blip r:embed="rId1">
            <a:alphaModFix/>
          </a:blip>
          <a:srcRect b="25806" l="0" r="0" t="0"/>
          <a:stretch/>
        </p:blipFill>
        <p:spPr>
          <a:xfrm>
            <a:off x="10165375" y="218749"/>
            <a:ext cx="109544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TTN Logo.png"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60831" y="22657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"/>
          <p:cNvCxnSpPr/>
          <p:nvPr/>
        </p:nvCxnSpPr>
        <p:spPr>
          <a:xfrm>
            <a:off x="11201868" y="23913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9791575" y="637582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alyst_puzzle_visual.png" id="66" name="Google Shape;66;p13"/>
          <p:cNvPicPr preferRelativeResize="0"/>
          <p:nvPr/>
        </p:nvPicPr>
        <p:blipFill rotWithShape="1">
          <a:blip r:embed="rId3">
            <a:alphaModFix/>
          </a:blip>
          <a:srcRect b="2857" l="0" r="11333" t="0"/>
          <a:stretch/>
        </p:blipFill>
        <p:spPr>
          <a:xfrm>
            <a:off x="7818125" y="960125"/>
            <a:ext cx="3669775" cy="46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621693" y="1177192"/>
            <a:ext cx="704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NASA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70963" y="2113497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008BE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Idea Showcase</a:t>
            </a:r>
            <a:endParaRPr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21688" y="2670395"/>
            <a:ext cx="603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C2DC9"/>
                </a:solidFill>
                <a:latin typeface="Caveat"/>
                <a:ea typeface="Caveat"/>
                <a:cs typeface="Caveat"/>
                <a:sym typeface="Caveat"/>
              </a:rPr>
              <a:t>Stay Curious. Build Bold. Create Impact.</a:t>
            </a:r>
            <a:endParaRPr b="1" sz="21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Catalyst AI  |  Learn. Create. Elevate.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502925" y="3517350"/>
            <a:ext cx="6791400" cy="2081700"/>
          </a:xfrm>
          <a:prstGeom prst="roundRect">
            <a:avLst>
              <a:gd fmla="val 16667" name="adj"/>
            </a:avLst>
          </a:prstGeom>
          <a:solidFill>
            <a:srgbClr val="F7F8FD"/>
          </a:solidFill>
          <a:ln cap="flat" cmpd="sng" w="12700">
            <a:solidFill>
              <a:srgbClr val="6C2D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chemeClr val="dk1">
                <a:alpha val="349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0D1A4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77245" y="379167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en-US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eam</a:t>
            </a:r>
            <a:r>
              <a:rPr b="1" i="0" lang="en-US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Members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777252" y="4316826"/>
            <a:ext cx="57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0D1A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Nishant </a:t>
            </a:r>
            <a:r>
              <a:rPr lang="en-US">
                <a:solidFill>
                  <a:srgbClr val="0D1A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Anshu • Shikha • Abhishek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777245" y="4931233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BE8"/>
                </a:solidFill>
                <a:latin typeface="Poppins"/>
                <a:ea typeface="Poppins"/>
                <a:cs typeface="Poppins"/>
                <a:sym typeface="Poppins"/>
              </a:rPr>
              <a:t>Showcase Date</a:t>
            </a:r>
            <a:endParaRPr b="1">
              <a:solidFill>
                <a:srgbClr val="008B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825100" y="4931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D1A4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16 10 2026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658368" y="1170432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The Idea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685800" y="1764792"/>
            <a:ext cx="1234440" cy="73152"/>
          </a:xfrm>
          <a:prstGeom prst="rect">
            <a:avLst/>
          </a:prstGeom>
          <a:solidFill>
            <a:srgbClr val="6C2D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58368" y="1938528"/>
            <a:ext cx="1033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685800" y="2487175"/>
            <a:ext cx="10424100" cy="1009200"/>
          </a:xfrm>
          <a:prstGeom prst="roundRect">
            <a:avLst>
              <a:gd fmla="val 16667" name="adj"/>
            </a:avLst>
          </a:prstGeom>
          <a:solidFill>
            <a:srgbClr val="F7F8FD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896112" y="2642616"/>
            <a:ext cx="1000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IDEA/S</a:t>
            </a:r>
            <a:r>
              <a:rPr b="1" lang="en-US" sz="1200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OLUTION NAME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896112" y="2990088"/>
            <a:ext cx="1000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NASA Reviewer - AI-Powered Jira Project Risk Intelligence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85825" y="3837637"/>
            <a:ext cx="5074800" cy="19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8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896137" y="4035089"/>
            <a:ext cx="465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8BE8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896137" y="4476453"/>
            <a:ext cx="46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Poorly written Jira tickets (lacking context, reproducibility, or clarity) cause development delays, miscommunication, and project risks. Manually reviewing these defects is time-consuming.</a:t>
            </a:r>
            <a:endParaRPr sz="10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035073" y="3837637"/>
            <a:ext cx="5074800" cy="19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6245385" y="4035089"/>
            <a:ext cx="465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8A00"/>
                </a:solidFill>
                <a:latin typeface="Poppins"/>
                <a:ea typeface="Poppins"/>
                <a:cs typeface="Poppins"/>
                <a:sym typeface="Poppins"/>
              </a:rPr>
              <a:t>IDEA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6245385" y="4476453"/>
            <a:ext cx="46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LangGraph multi-agent pipeline powered by local LLMs (Ollama) to automatically ingest Jira tickets, categorize defects, and predict overall project health through an interactive dashboard.</a:t>
            </a:r>
            <a:endParaRPr sz="10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Catalyst AI  |  Learn. Create. Elevate.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658368" y="1170432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8BE8"/>
                </a:solidFill>
                <a:latin typeface="Poppins"/>
                <a:ea typeface="Poppins"/>
                <a:cs typeface="Poppins"/>
                <a:sym typeface="Poppins"/>
              </a:rPr>
              <a:t>Solution / Demo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85800" y="1764792"/>
            <a:ext cx="1234440" cy="73152"/>
          </a:xfrm>
          <a:prstGeom prst="rect">
            <a:avLst/>
          </a:prstGeom>
          <a:solidFill>
            <a:srgbClr val="008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58368" y="1938528"/>
            <a:ext cx="1033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Show how your idea solves the problem. The demo should be the hero. </a:t>
            </a:r>
            <a:r>
              <a:rPr lang="en-US" sz="12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85800" y="2450592"/>
            <a:ext cx="3657600" cy="3063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8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932688" y="2706624"/>
            <a:ext cx="128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8BE8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932688" y="3090672"/>
            <a:ext cx="312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0D1A4A"/>
                </a:solidFill>
                <a:latin typeface="Poppins"/>
                <a:ea typeface="Poppins"/>
                <a:cs typeface="Poppins"/>
                <a:sym typeface="Poppins"/>
              </a:rPr>
              <a:t>A full-stack app that syncs Jira tickets and evaluates them against a 5-point quality score. It provides actionable feedback on missing details and generates project health visualizations.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32688" y="4204403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AI / AGENT / TECHNOLOGY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64675" y="4622742"/>
            <a:ext cx="306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Frontend: Next.js, React, Recharts. Backend: FastAPI, LangGraph, LangChain, PostgreSQL. AI: Local Ollama (llama3.2:1b).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617720" y="2450592"/>
            <a:ext cx="6492240" cy="3063240"/>
          </a:xfrm>
          <a:prstGeom prst="roundRect">
            <a:avLst>
              <a:gd fmla="val 16667" name="adj"/>
            </a:avLst>
          </a:prstGeom>
          <a:solidFill>
            <a:srgbClr val="F7F8FC"/>
          </a:solidFill>
          <a:ln cap="flat" cmpd="sng" w="12700">
            <a:solidFill>
              <a:srgbClr val="6C2D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864608" y="2706624"/>
            <a:ext cx="137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DEMO FLOW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006340" y="3753612"/>
            <a:ext cx="571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1. Sync Jira to ingest tickets.
2. Run AI Analysis via LangGraph pipeline.
3. View defect categories and interactive charts.
4. Drill down into specific tickets for AI-generated feedback.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Catalyst AI  |  Learn. Create. Elevate.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658368" y="1170432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8A00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85800" y="1764792"/>
            <a:ext cx="1234440" cy="73152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58368" y="1938528"/>
            <a:ext cx="1033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Show the value your solution could create. Quantify it wherever possible.</a:t>
            </a:r>
            <a:endParaRPr sz="10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areas below are examples, not a fixed list. If your idea creates impact in another area, feel free to add it.</a:t>
            </a:r>
            <a:endParaRPr sz="10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85800" y="2606040"/>
            <a:ext cx="32460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6C2D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86968" y="2788920"/>
            <a:ext cx="2843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86968" y="3118104"/>
            <a:ext cx="284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A4A"/>
                </a:solidFill>
                <a:latin typeface="Poppins"/>
                <a:ea typeface="Poppins"/>
                <a:cs typeface="Poppins"/>
                <a:sym typeface="Poppins"/>
              </a:rPr>
              <a:t>[N/A - Indirect via efficiency]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4297680" y="2606040"/>
            <a:ext cx="32460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8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498848" y="2788920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8BE8"/>
                </a:solidFill>
                <a:latin typeface="Poppins"/>
                <a:ea typeface="Poppins"/>
                <a:cs typeface="Poppins"/>
                <a:sym typeface="Poppins"/>
              </a:rPr>
              <a:t>PRODUCTIVITY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498848" y="3118104"/>
            <a:ext cx="284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A4A"/>
                </a:solidFill>
                <a:latin typeface="Poppins"/>
                <a:ea typeface="Poppins"/>
                <a:cs typeface="Poppins"/>
                <a:sym typeface="Poppins"/>
              </a:rPr>
              <a:t>Automates ticket review, saving hours of manual analysis per sprint.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7909560" y="2606040"/>
            <a:ext cx="32460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53C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110728" y="2788920"/>
            <a:ext cx="284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3CA6"/>
                </a:solidFill>
                <a:latin typeface="Poppins"/>
                <a:ea typeface="Poppins"/>
                <a:cs typeface="Poppins"/>
                <a:sym typeface="Poppins"/>
              </a:rPr>
              <a:t>COST OPTIMISATION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10728" y="3118104"/>
            <a:ext cx="284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A4A"/>
                </a:solidFill>
                <a:latin typeface="Poppins"/>
                <a:ea typeface="Poppins"/>
                <a:cs typeface="Poppins"/>
                <a:sym typeface="Poppins"/>
              </a:rPr>
              <a:t>Reduces rework and bug-fixing time by catching poorly defined requirements early.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685800" y="3886200"/>
            <a:ext cx="50748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86968" y="4069080"/>
            <a:ext cx="4672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8A00"/>
                </a:solidFill>
                <a:latin typeface="Poppins"/>
                <a:ea typeface="Poppins"/>
                <a:cs typeface="Poppins"/>
                <a:sym typeface="Poppins"/>
              </a:rPr>
              <a:t>CUSTOMER EXPERIENCE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86968" y="4398264"/>
            <a:ext cx="467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A4A"/>
                </a:solidFill>
                <a:latin typeface="Poppins"/>
                <a:ea typeface="Poppins"/>
                <a:cs typeface="Poppins"/>
                <a:sym typeface="Poppins"/>
              </a:rPr>
              <a:t>Improves developer experience and reduces frustration from ambiguous tasks.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035040" y="3886200"/>
            <a:ext cx="50748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D4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236207" y="4069080"/>
            <a:ext cx="4672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A3"/>
                </a:solidFill>
                <a:latin typeface="Poppins"/>
                <a:ea typeface="Poppins"/>
                <a:cs typeface="Poppins"/>
                <a:sym typeface="Poppins"/>
              </a:rPr>
              <a:t>OPERATIONAL EFFICIENCY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236207" y="4398264"/>
            <a:ext cx="467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1A4A"/>
                </a:solidFill>
                <a:latin typeface="Poppins"/>
                <a:ea typeface="Poppins"/>
                <a:cs typeface="Poppins"/>
                <a:sym typeface="Poppins"/>
              </a:rPr>
              <a:t>Standardizes ticket quality and provides instant, actionable feedback.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685800" y="5349240"/>
            <a:ext cx="10424100" cy="530400"/>
          </a:xfrm>
          <a:prstGeom prst="roundRect">
            <a:avLst>
              <a:gd fmla="val 16667" name="adj"/>
            </a:avLst>
          </a:prstGeom>
          <a:solidFill>
            <a:srgbClr val="F7F8FC"/>
          </a:solidFill>
          <a:ln cap="flat" cmpd="sng" w="12700">
            <a:solidFill>
              <a:srgbClr val="6C2D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5504688"/>
            <a:ext cx="996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C2DC9"/>
                </a:solidFill>
                <a:latin typeface="Poppins"/>
                <a:ea typeface="Poppins"/>
                <a:cs typeface="Poppins"/>
                <a:sym typeface="Poppins"/>
              </a:rPr>
              <a:t>BOTTOM LINE:  NASA Reviewer proactively mitigates project risks by ensuring high-quality, actionable Jira tickets through automated AI analysis.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Catalyst AI  |  Learn. Create. Elevate.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